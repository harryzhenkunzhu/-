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losing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5" r:id="rId9"/>
    <p:sldId id="286" r:id="rId10"/>
    <p:sldId id="287" r:id="rId11"/>
    <p:sldId id="288" r:id="rId12"/>
    <p:sldId id="289" r:id="rId13"/>
    <p:sldId id="290" r:id="rId14"/>
    <p:sldId id="291" r:id="rId8"/>
    <p:sldId id="292" r:id="rId7"/>
    <p:sldId id="293" r:id="rId6"/>
    <p:sldId id="294" r:id="rId5"/>
    <p:sldId id="295" r:id="rId4"/>
    <p:sldId id="296" r:id="rId3"/>
    <p:sldId id="297" r:id="rId21"/>
    <p:sldId id="28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3"/>
    <p:restoredTop sz="95781"/>
  </p:normalViewPr>
  <p:slideViewPr>
    <p:cSldViewPr snapToGrid="0" snapToObjects="1">
      <p:cViewPr>
        <p:scale>
          <a:sx n="54" d="100"/>
          <a:sy n="54" d="100"/>
        </p:scale>
        <p:origin x="648" y="1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closing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20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closing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建议用时：30秒</a:t>
            </a:r>
          </a:p>
          <a:p/>
          <a:p>
            <a:r>
              <a:t>大家好，我今天汇报何平的《李宏龄的票号成败论与近代中国公司制度的缺失》。文章以一位票号经理留下的书信为线索，讨论山西票号为什么衰落，以及为什么没能通过改组银行获得普遍的新生。下面按照原文的三个部分，先介绍李宏龄与史料，再看票号的经营危机和改革主张，最后讨论有限责任与公司制度。</a:t>
            </a:r>
          </a:p>
          <a:p/>
          <a:p>
            <a:r>
              <a:t>切页提示：介绍文章后，按原文三部分进入汇报。</a:t>
            </a:r>
          </a:p>
          <a:p>
            <a:r>
              <a:t>出处：何平：《中国钱币》2022年第6期，第39—49页。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建议用时：60秒</a:t>
            </a:r>
          </a:p>
          <a:p/>
          <a:p>
            <a:r>
              <a:t>回顾全文，李宏龄的价值在于留下了票号内部的经营判断。他既提出班期、用人方面的调整，也在银行竞争加剧时倡议合股办行。何平通过各地来信和梁启超的演说，说明这种改革有当时的现实依据；再借有限责任理论，把问题从具体业务推进到资本动员、法律规则和公司治理。作者的中心判断是，票号并不缺少一切业务创新，关键在于未能及时完成组织机制和治理模式的改造。我的理解是，这个视角能够解释为什么有改革意见，却未必形成改革行动。但有限责任只是一项重要条件，官款分配、官方保护和战争冲击也在文中清楚可见，不能据此断言只要公司化，票号就一定成功。以上就是我的汇报，谢谢大家。</a:t>
            </a:r>
          </a:p>
          <a:p/>
          <a:p>
            <a:r>
              <a:t>切页提示：按人物、改革、制度三层回收，最后以一句评价结束。</a:t>
            </a:r>
          </a:p>
          <a:p>
            <a:r>
              <a:t>出处：概括依据：何平，第39—49页；末段为本次汇报的简短评议。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建议用时：60秒</a:t>
            </a:r>
          </a:p>
          <a:p/>
          <a:p>
            <a:r>
              <a:t>李宏龄在蔚丰厚票号任职五十余年，先后主持京师、上海和汉口分号的经营。他留下的材料很特别：票号通常不公开经营内幕，他却把任职期间的部分往来书信整理成书。因此，作者能够从一个内部经营者的角度，观察票号的运作和危机。两部书要区分开。《同舟忠告》主要收录一八九〇年至一九一二年写给总号的信，涉及日常经营和改革建议；《山西票商成败记》的主体，则是一九〇八至一九〇九年倡议联合办银行的往来通信，既有发出的倡议，也有各地的响应。两书都在一九一七年刊印，但其中大部分文书形成得更早。接下来先看日常书信，因为它们能说明，李宏龄的改革意识是怎样从具体经营问题中产生的。</a:t>
            </a:r>
          </a:p>
          <a:p/>
          <a:p>
            <a:r>
              <a:t>切页提示：点出两书内容的区别，再转入书信中的具体经营问题。</a:t>
            </a:r>
          </a:p>
          <a:p>
            <a:r>
              <a:t>出处：何平，第39—40页；两书均于1917年刊印。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建议用时：60秒</a:t>
            </a:r>
          </a:p>
          <a:p/>
          <a:p>
            <a:r>
              <a:t>作者举了两个例子。第一个是班期。伙友被派到外地，通常三年内不能回乡，这有利于熟悉业务、节省旅费，但也影响家庭生活、健康和人才留任。李宏龄注意到火车已经通行，往返更方便，便提出“年轻诸伙，改为两年下班一次”，同时减少衣费，平衡增加的旅费。他并非只讲人情，也在计算号内成本。第二个是用人。票号主要依靠同行推荐和个人信誉安排人员。李宏龄希望把有经验的郭倍瑾调回京号，因为当地得力人员难找。这说明经理已经重视能力与岗位的匹配；但人员调动仍依赖个人推荐和总号认可。作者借这些例子指出，票号虽然有号规和经营经验，具体决策仍较受个人关系、见识与旧惯例限制。</a:t>
            </a:r>
          </a:p>
          <a:p/>
          <a:p>
            <a:r>
              <a:t>切页提示：古文只读红色短句；解释两年班期与推荐用人。</a:t>
            </a:r>
          </a:p>
          <a:p>
            <a:r>
              <a:t>出处：何平，第40页，转引《同舟忠告》。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建议用时：90秒</a:t>
            </a:r>
          </a:p>
          <a:p/>
          <a:p>
            <a:r>
              <a:t>进入第二部分，先看李宏龄怎样解释票号的兴衰。他回顾，咸丰、同治时期，军饷、协款和赈灾资金需要跨地区调拨，票号凭借分号网络和兑现信用扩大了经营。庚子危机中，各地协同应付兑现，也进一步提高了信誉。但原来的业务条件正在改变。国内银行承接官款，以较强的资金实力参与存贷款竞争；外国银行向内地扩展，又带来资本和经营经验上的压力。一九〇八年的银行则例进一步要求注册，期满未注册者不得办理官款的汇兑和存放。也就是说，票号同时失去部分客户、资金和经营空间。辛亥革命使困难集中爆发。李宏龄说“外欠则处处倒账，欠外则人人提款”。外欠是别人欠票号的钱，收不回来；欠外是票号欠客户的钱，却被要求提取。再加上地方钞票折价，资产受损和支付压力叠加。因而，过去依靠信用渡过危机的办法，此时已难以继续支撑。</a:t>
            </a:r>
          </a:p>
          <a:p/>
          <a:p>
            <a:r>
              <a:t>切页提示：先讲官款汇兑与信用，再解释“外欠”和“欠外”。</a:t>
            </a:r>
          </a:p>
          <a:p>
            <a:r>
              <a:t>出处：何平，第41—42页；兴衰自述转引《山西票商成败记》序言。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建议用时：90秒</a:t>
            </a:r>
          </a:p>
          <a:p/>
          <a:p>
            <a:r>
              <a:t>各地回信使这些压力更加具体。首先是钞票。营口票号担心，客户“夹带钞票即能办事，何必又出汇费乎”。钞票扩大流通后，一部分原本需要票号汇兑的支付，可以改用携带钞票完成，所以票号不仅少了业务，汇水也不容易提高。其次是押款，也就是以财产作抵押的贷款。汉口来信认为，票号即使熟悉客户，也难免看走眼；银行使用抵押，可以为贷款增加保障。改革者因此希望扩大银行业务，而不只守住信用放款和汇兑。第三是官方保护。奉天票号抱怨，发生倒账时，要先清偿内外银行的款项，票号承担更多损失。重庆来信也强调，银行有较强的财力和官方力量，票号难以抗衡。作者还把票号的脆弱性与最后贷款人支持的缺失联系起来。因此，这些信反映的优势既包括业务和资本，也包括官方认可与保护。它们共同构成了各地经理主张办银行的理由。</a:t>
            </a:r>
          </a:p>
          <a:p/>
          <a:p>
            <a:r>
              <a:t>切页提示：按发钞、押款、官方保护三项解释，区分市场优势与待遇差别。</a:t>
            </a:r>
          </a:p>
          <a:p>
            <a:r>
              <a:t>出处：何平，第43—45页；营口、汉口、奉天等地票号来信。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建议用时：75秒</a:t>
            </a:r>
          </a:p>
          <a:p/>
          <a:p>
            <a:r>
              <a:t>李宏龄提出，各家票号共同出资，广泛招股，另立银行。倡议中，每家先出三万至五万两，目标股本五百万两，每股一百两。筹成以后，由各号提供人员，银行另立账簿，按股分利，并积累公积。这些数字是计划，不是实际完成的募资。关于原来的票号，他说“纵使票号尽废，有银行尚可延一线生机”。因此，银行和票号可以暂时并存，目的在于把原有资本、人员和信用转入新的组织。各地虽然普遍感到办银行迫切，具体意见却不一致。成都希望引入官股获得保护，又限定山西资本，甚至提出无限责任银行，与李宏龄的有限责任方案不同。最终，联合办行遭到总号方面的反对，计划未成。文章也提到蔚丰厚后来单独改组银行的例子，所以这里要区分联合计划受阻与个别票号的改组。</a:t>
            </a:r>
          </a:p>
          <a:p/>
          <a:p>
            <a:r>
              <a:t>切页提示：筹资数字简讲；重点解释为何允许票号、银行并存。</a:t>
            </a:r>
          </a:p>
          <a:p>
            <a:r>
              <a:t>出处：何平，第40、42—45、49页；金额为倡议目标，非已筹得资本。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建议用时：55秒</a:t>
            </a:r>
          </a:p>
          <a:p/>
          <a:p>
            <a:r>
              <a:t>一九一二年，梁启超向山西票商演讲。他把票号与西方传统钱商比较：两者都经营存汇业务，利用不同地区的货币差异获利，也都重视出票信用；但西方钱商不断改良，逐渐发展为银行，中国票号却更多地守住旧业。梁启超指出三重压力：金库改革会减少原有官款业务；币制统一会改变利用各地平色差异获利的条件；外国银行控制金融，又使单个票号难以应对。他的判断是，国家金融制度需要改革，票号不能只要求保留旧有利益，也必须改变自己。何平认为，这场演说从另一角度支持了李宏龄更早的经营判断。</a:t>
            </a:r>
          </a:p>
          <a:p/>
          <a:p>
            <a:r>
              <a:t>切页提示：比较传统钱商的发展，再按三项说明改革对票号收益的影响。</a:t>
            </a:r>
          </a:p>
          <a:p>
            <a:r>
              <a:t>出处：何平，第45—46页，转引梁启超1912年10月30日演说。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建议用时：50秒</a:t>
            </a:r>
          </a:p>
          <a:p/>
          <a:p>
            <a:r>
              <a:t>不过，何平也引述了一种批评：梁启超把中国票号与西式机构分成传统和现代两端，李宏龄又塑造了进取的分号经理与保守所有者之间的对立。何平从两个方面回应。第一是时间：改革书信形成于一九〇八至一九〇九年，早于梁启超演说和一九一七年出版，不能直接视为事后臆造。第二是成败标准：票商家庭转行后仍然获利，不等于票号这个金融组织完成了转型。文章讨论的是后者。这一争论之后，作者进一步追问：即使票号已有业务创新，为什么仍然没有顺利完成组织上的改造？</a:t>
            </a:r>
          </a:p>
          <a:p/>
          <a:p>
            <a:r>
              <a:t>切页提示：先说对方批评，再依次解释时序与评价对象。</a:t>
            </a:r>
          </a:p>
          <a:p>
            <a:r>
              <a:t>出处：何平，第46—47页；对王路曼观点的介绍依据何平引述。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建议用时：70秒</a:t>
            </a:r>
          </a:p>
          <a:p/>
          <a:p>
            <a:r>
              <a:t>第三部分是全文的理论重点。李宏龄已经说到，银行可以设为有限公司，即使亏损，也“不过其已出之资，不能再认赔累也”。何平进一步借用莫斯《别无他法》第三章，解释这种制度为什么能够吸引资本。要分清，公司仍然要以自己的全部财产偿债；受限制的是股东因公司债务而承担的追加责任。在股东缴足出资、没有额外担保等情况下，个人其他财产通常不会仅因股东身份继续被追索。对股东来说，最坏损失明显下降；对债权人来说，不能追回全部款项的可能性却会增加，但最大损失仍然是贷出的数额。因此，有限责任并未消除经营风险，而是重新分配了风险。能协商的债权人可能要求更高利率、抵押或担保，作者认为股东仍可能愿意接受这样的融资成本。</a:t>
            </a:r>
          </a:p>
          <a:p/>
          <a:p>
            <a:r>
              <a:t>切页提示：读出李宏龄原话，再比较股东与债权人的风险变化。</a:t>
            </a:r>
          </a:p>
          <a:p>
            <a:r>
              <a:t>出处：何平，第42、47—48页；责任规则为一般性说明，不考虑个人担保等例外。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建议用时：90秒</a:t>
            </a:r>
          </a:p>
          <a:p/>
          <a:p>
            <a:r>
              <a:t>作者先用三个机制解释投资者的反应。第一是财富的边际效用递减。财富变化对人的影响，并不与金额简单成比例；尤其是损失全部身家，会严重威胁家庭生活。因此，把可能倾家荡产的损失限定为一笔出资，对投资者具有很大价值。第二是彩票效应。有限责任下，投资者知道最坏可以损失多少，而企业成功可能带来较高收益。这种有限下行、开放上行的结构，会增强投资的吸引力。当然，它不保证每项投资都有正收益。第三是确定性效应。即使某种巨额损失发生的概率很低，人们也可能格外在意能否把这种可能性完全排除。有限责任使特定投资的最大责任更容易预先确定。三点的侧重不同：第一讲损失的痛苦，第二讲收益结构的吸引力，第三讲确定边界的价值。它们共同解释，为什么只是限制追加赔累，就可能释放原来不愿进入企业的资本。</a:t>
            </a:r>
          </a:p>
          <a:p/>
          <a:p>
            <a:r>
              <a:t>切页提示：依次讲边际效用、彩票效应、确定性效应，避免把投资说成稳赚。</a:t>
            </a:r>
          </a:p>
          <a:p>
            <a:r>
              <a:t>出处：何平，第47—48页，“有限责任的奥秘”第1—3点；本页为解释性归纳。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建议用时：80秒</a:t>
            </a:r>
          </a:p>
          <a:p/>
          <a:p>
            <a:r>
              <a:t>既然有限责任有吸引力，企业能否只靠私人合同实现？文章认为，这还需要政府通过法律确立。首先，合同只能约束参与签约的人。未来事故的受害者，事前往往根本不知道是谁，不可能逐一谈妥责任。其次，公司面对的债权人很多，每次交易都单独约定，成本很高，统一法律可以提供共同规则。最后，是逆向选择和认知问题。在默认无限责任的环境下，一家企业主动请求免责，债权人可能怀疑它知道自己有更高风险；有限责任成为一般规则以后，企业就不必逐家解释为什么要求保护。这是改变逆向选择问题的信号条件。同样承担有限责任，从主动要求免责到按照通行规则经营，也会改变债权人的判断，作者将其联系到框架效应。法律并未取消协商，债权人仍然可以要求股东个人担保；它改变的是协商的起点和各方的预期。</a:t>
            </a:r>
          </a:p>
          <a:p/>
          <a:p>
            <a:r>
              <a:t>切页提示：先解释私人合同的两个障碍，再讲逆向选择和框架效应。</a:t>
            </a:r>
          </a:p>
          <a:p>
            <a:r>
              <a:t>出处：何平，第48页：逆向选择、认知问题及政府介入的三项理由。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建议用时：90秒</a:t>
            </a:r>
          </a:p>
          <a:p/>
          <a:p>
            <a:r>
              <a:t>最后，作者把有限责任的意义落回票号。票号并非没有治理制度。晋商重视地缘信用，采用避亲举乡的用人原则，并通过号规、奖金和股俸激励经营者。这些安排曾经有效。但当改革要求不同票号共同出资、调整权力和责任时，既有治理方式未能推动联合决策。李宏龄任职的蔚丰厚总号负责人毛宏瀚反对重组，其他一些总号也守住旧法。作者又把这种选择放进更大的制度环境：近代公司形式虽然已经出现，稳定的法律保障和相应的企业治理却发育不足。文章引用柯比的研究，指出政权对工商财产的侵扰使经营者缺乏信任，公司制度难以扎根。这里说的缺失，因此不能理解为完全没有公司法。文章末尾还延伸到当代股份公司，提出重融资、轻治理的提醒。这一延伸说明，作者关心的不只是怎样把钱集中起来，更是资本联合以后，如何受到稳定规则的约束和治理。</a:t>
            </a:r>
          </a:p>
          <a:p/>
          <a:p>
            <a:r>
              <a:t>切页提示：先承认传统治理的作用，再讲总号决策、制度环境与作者的现实延伸。</a:t>
            </a:r>
          </a:p>
          <a:p>
            <a:r>
              <a:t>出处：何平，第48—49页；“重融资、轻治理”为作者延伸到当代的讨论。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F5FF-CCD8-00B5-8966-0E9681C26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AD28D-733A-979F-9ABA-51952D594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D5A68-0956-88EA-E51A-50680BFD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附录或结束页，不计入15分钟正文。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FB9C6-DE88-B00B-F3F9-7179F9797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176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附录或结束页，不计入15分钟正文。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86C911-B6C2-F5A8-9501-07AA3D60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D1D97E7D-86BB-3AF3-D099-5358C91E5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5" y="57330"/>
            <a:ext cx="6715125" cy="674334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3D53840-A1EC-80EB-6CFC-2C3F42ECC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23" y="1200150"/>
            <a:ext cx="844178" cy="84772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FC4D4D5-19CF-7A28-8141-267522359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804" y="1266825"/>
            <a:ext cx="2712668" cy="60007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F766BFB-10FF-74C5-BCE6-4EC36A84A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0300" y="6049378"/>
            <a:ext cx="1657350" cy="43614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5112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82496" y="1883664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050" b="0">
                <a:solidFill>
                  <a:srgbClr val="282627"/>
                </a:solidFill>
                <a:latin typeface="Arial"/>
              </a:defRPr>
            </a:pPr>
            <a:r>
              <a:rPr>
                <a:ea typeface="Arial"/>
              </a:rPr>
              <a:t>RENMIN UNIVERSITY OF CHINA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3026664"/>
            <a:ext cx="8092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4700" b="1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感谢聆听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443984"/>
            <a:ext cx="7004304" cy="21031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754880"/>
            <a:ext cx="7671816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50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敬请批评指正！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65885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B0BBE721-FF95-55BA-F501-82E7B073F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5" y="57330"/>
            <a:ext cx="6715125" cy="674334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3709739-685F-F48B-637C-2209687AE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6049378"/>
            <a:ext cx="1657350" cy="4361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566928"/>
            <a:ext cx="7406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中国货币思想史  文献研读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1197864"/>
            <a:ext cx="11000232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865376"/>
            <a:ext cx="100126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400" b="1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李宏龄的票号成败论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3400" b="1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与近代中国公司制度的缺失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40233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1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汇报人：朱振坤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736592"/>
            <a:ext cx="996696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6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    二  票号成败与银行改制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6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5797296"/>
            <a:ext cx="88239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何平：《中国钱币》2022年第6期，第39—49页。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约15分钟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李宏龄与两部票号文书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何平，第39—40页；两书均于1917年刊印。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1088136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李宏龄（1847—1918）：蔚丰厚票号任职50余年，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曾主持京师、上海、汉口分号经营。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734056"/>
            <a:ext cx="10881360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01752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《同舟忠告》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630168"/>
            <a:ext cx="500176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1890—1912年的部分工作书信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写给总号，讨论日常经营与改革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可见班期、用人等内部惯例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990088"/>
            <a:ext cx="10972" cy="2185416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01752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《山西票商成败记》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630168"/>
            <a:ext cx="501091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主体为1908—1909年往来通信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倡议三帮票号合股设立银行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包含倡议函及各地响应来信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504688"/>
            <a:ext cx="10808208" cy="466344"/>
          </a:xfrm>
          <a:prstGeom prst="rect">
            <a:avLst/>
          </a:prstGeom>
          <a:solidFill>
            <a:srgbClr val="F0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5577840"/>
            <a:ext cx="10424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750" b="0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两书均于1917年刊印；工作文书的形成时间早于出版时间。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从班期与用人，看票号经营的惯例和局限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何平，第40页，转引《同舟忠告》。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856231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班期：旧号规需要怎样调整？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551176"/>
            <a:ext cx="50749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“年轻诸伙，改为两年下班一次。”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685032"/>
            <a:ext cx="5010912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旧例：外派三年内不准回乡。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建议：利用铁路便利，缩短班期；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以减少衣费平衡新增旅费。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考虑人才留任、家庭与健康。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847088"/>
            <a:ext cx="10972" cy="3877056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56231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用人：经验与推荐如何起作用？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51176"/>
            <a:ext cx="498348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“全仗人力经营，方可立足。”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685032"/>
            <a:ext cx="4983480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例子：希望调郭倍瑾回京帮办。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经理重视实际能力与岗位需要；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任用仍依赖个人信誉、同行推荐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以及总号对人事的认可。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票号由盛转衰：原有业务为什么难以维持？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何平，第41—42页；兴衰自述转引《山西票商成败记》序言。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856231"/>
            <a:ext cx="32369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兴盛：官款与信用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542032"/>
            <a:ext cx="3273552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咸丰、同治时期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军饷、协款、赈抚推动汇兑。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庚子危机中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各埠协力兑现，信用提高。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6824" y="1847088"/>
            <a:ext cx="10972" cy="2688336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856231"/>
            <a:ext cx="66934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变化：银行竞争与经营新规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542032"/>
            <a:ext cx="6748272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国内银行：争夺官款，以资金优势参与存贷竞争。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外国银行：扩展客户与市场，强化竞争压力。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1908年则例：期满未注册，不得办理官款存放汇兑。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4882896"/>
            <a:ext cx="10808208" cy="932688"/>
          </a:xfrm>
          <a:prstGeom prst="rect">
            <a:avLst/>
          </a:prstGeom>
          <a:solidFill>
            <a:srgbClr val="F0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010912"/>
            <a:ext cx="103784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“外欠则处处倒账，欠外则人人提款。”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504688"/>
            <a:ext cx="10378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6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辛亥之后：债权收不回、客户集中提款，再加各省钞票折收。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各埠来信：新式银行的优势体现在哪里？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何平，第43—45页；营口、汉口、奉天等地票号来信。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819656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5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银行优势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1819656"/>
            <a:ext cx="5138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5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各地票号的观察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819656"/>
            <a:ext cx="32186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5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票号受到的影响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40487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钞票发行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404872"/>
            <a:ext cx="5120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5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营口：“夹带钞票即能办事，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5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何必又出汇费乎！”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404872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一部分汇兑需求被替代，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汇水收入受到挤压。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3310128"/>
            <a:ext cx="10780776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46557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抵押贷款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3465576"/>
            <a:ext cx="5120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汉口：银行有押款之例，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可借抵押物增加贷款保障。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465576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单靠熟悉客户与信用判断，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风险控制仍有局限。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" y="4370832"/>
            <a:ext cx="10780776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526279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官方保护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4526279"/>
            <a:ext cx="5120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5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奉天：“先尽该等之款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5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悉数清偿。”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4526279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倒账时银行先受偿，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票号回收债权更加困难。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85216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5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何平还将票号的脆弱性与官方保障、最后贷款人支持的缺失联系起来。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李宏龄的办法：合股办银行，为票号另谋出路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何平，第40、42—45、49页；金额为倡议目标，非已筹得资本。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865376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1908年倡议的具体安排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532888"/>
            <a:ext cx="16093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资本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532888"/>
            <a:ext cx="385876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8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各号拟出3—5万两；目标500万两。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163824"/>
            <a:ext cx="16093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人员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163824"/>
            <a:ext cx="385876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8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各票号酌拨人员，共同经营银行。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794760"/>
            <a:ext cx="16093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账目与分配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94760"/>
            <a:ext cx="385876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8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另立账簿，按股分利，积累公积。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425696"/>
            <a:ext cx="160934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组织过渡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25696"/>
            <a:ext cx="385876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8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票号与银行可以暂时并存。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11112" y="1865376"/>
            <a:ext cx="10972" cy="3063240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865376"/>
            <a:ext cx="43982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改革要保留什么？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551176"/>
            <a:ext cx="4416552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40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“纵使票号尽废，有银行尚可延一线生机。”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0740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通过银行延续资本、人员与业务，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而不只是原样保留票号。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" y="5285232"/>
            <a:ext cx="10771632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5486400"/>
            <a:ext cx="107167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6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各地方案并不一致：成都提出官股、地方资本与无限责任银行。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6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联合办行计划未成；蔚丰厚后来单独改组，需与联合计划区分。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梁启超的比较：票号为什么必须改变？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何平，第45—46页，转引梁启超1912年10月30日演说。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1819656"/>
            <a:ext cx="108264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“吾票号因各地平色不同，故能从汇兑中有所取盈。”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880360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传统钱商：起点相似，发展有别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547872"/>
            <a:ext cx="4956048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共同点：存汇业务、货币差异获利、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重视出票信用。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西方钱商逐渐改良为银行；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梁启超批评票号较多守成。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871216"/>
            <a:ext cx="10972" cy="2569464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880360"/>
            <a:ext cx="492861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改革带来的三重压力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47872"/>
            <a:ext cx="4956048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金库改革 → 官款财源减少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币制统一 → 汇兑获利条件改变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中央银行缺位、外资银行扩张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→ 单个票号难以应对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“二元对立”之争：何平怎样回应？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何平，第46—47页；对王路曼观点的介绍依据何平引述。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819656"/>
            <a:ext cx="10808208" cy="1106424"/>
          </a:xfrm>
          <a:prstGeom prst="rect">
            <a:avLst/>
          </a:prstGeom>
          <a:solidFill>
            <a:srgbClr val="EE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965960"/>
            <a:ext cx="103692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7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王路曼的批评（据何平引述）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423160"/>
            <a:ext cx="10369296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相关叙述塑造了“传统票号／西式机构”“进取经理／保守所有者”的对立。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364992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何平的回应一：史料时序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014215"/>
            <a:ext cx="4946904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1908—1909年：工作书信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1912年：梁启超演说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1917年：结集刊印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出版较晚，不能据此认定主张是事后臆造。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355848"/>
            <a:ext cx="10972" cy="2459736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364992"/>
            <a:ext cx="4919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何平的回应二：成败的对象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014215"/>
            <a:ext cx="493776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票商家庭转行后继续获利，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与票号完成金融组织转型，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评价的不是同一个对象。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本文关注传统金融组织能否近代转型。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有限责任：限制股东损失，改变风险分担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何平，第42、47—48页；责任规则为一般性说明，不考虑个人担保等例外。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810512"/>
            <a:ext cx="10808208" cy="923544"/>
          </a:xfrm>
          <a:prstGeom prst="rect">
            <a:avLst/>
          </a:prstGeom>
          <a:solidFill>
            <a:srgbClr val="F0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011680"/>
            <a:ext cx="10332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60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“不过其已出之资，不能再认赔累也。”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487168"/>
            <a:ext cx="10332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3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李宏龄1908年办行倡议；何平随后借莫斯理论解释其资本动员意义。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172968"/>
            <a:ext cx="49103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股东：最坏损失下降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849624"/>
            <a:ext cx="4928616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无限责任可能追及个人其他财产；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有限责任通常把损失限于出资。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对不能全面监督企业的投资者，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这条边界尤其重要。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1616" y="3145536"/>
            <a:ext cx="10972" cy="2377440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172968"/>
            <a:ext cx="492861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债权人：风险需要重新定价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849624"/>
            <a:ext cx="49469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未获足额清偿的可能性上升；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最大损失仍以贷出金额为限。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可要求更高利率、抵押或担保，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并非风险消失。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5879592"/>
            <a:ext cx="10744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4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公司仍以全部财产偿债。上述边界以股东缴足出资、无额外担保等为前提。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投资者为什么重视有限责任？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何平，第47—48页，“有限责任的奥秘”第1—3点；本页为解释性归纳。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1892807"/>
            <a:ext cx="4297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1892807"/>
            <a:ext cx="37673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财富的边际效用递减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892807"/>
            <a:ext cx="64465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损失对生活的影响不与金额简单成比例；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避免倾家荡产，能给投资者带来很大价值。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3008376"/>
            <a:ext cx="10780776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246120"/>
            <a:ext cx="4297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246120"/>
            <a:ext cx="37673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彩票效应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3246120"/>
            <a:ext cx="64465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损失有上限，企业成功的潜在收益较大；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这种收益结构增强吸引力，但不保证投资获利。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4361688"/>
            <a:ext cx="10780776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599431"/>
            <a:ext cx="4297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5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599431"/>
            <a:ext cx="37673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确定性效应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4599431"/>
            <a:ext cx="64465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投资者重视“最大损失可以预先确定”；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排除某项灾难性损失的可能性，可能被格外看重。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为什么还需要有限责任法？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何平，第48页：逆向选择、认知问题及政府介入的三项理由。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65376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合同的边界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865376"/>
            <a:ext cx="7708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未来事故受害者等非自愿债权人，无法事先全部加入合同；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仅靠交易双方约定，不能形成普遍的责任安排。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816352"/>
            <a:ext cx="10744200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8152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逐一协商的成本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81528"/>
            <a:ext cx="7708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公司面对大量不同债权人；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法律提供通行规则，减少逐笔约定与协调的成本。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014215"/>
            <a:ext cx="10744200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29768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信号与默认规则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297680"/>
            <a:ext cx="7708392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逆向选择：单独请求免责可能引起“风险更高”的怀疑。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框架效应：遵循一般有限责任规则，与主动索取免责，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虽结果相似，给债权人的印象却不同。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5879592"/>
            <a:ext cx="107259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4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有限责任成为一般规则后，债权人仍可通过个人担保等条件另行协商。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27432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票号为什么未能完成公司化？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何平，第48—49页；“重融资、轻治理”为作者延伸到当代的讨论。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1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传统治理曾经有效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96312"/>
            <a:ext cx="496519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地缘信用、避亲举乡；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号规、奖金与股俸激励。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0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这些安排支持过票号的发展。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776472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“各总号既囿于见闻，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复墨守成法。”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65192"/>
            <a:ext cx="496519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毛宏瀚等反对联合改组，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旧有决策未能促成跨号资本联合。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856231"/>
            <a:ext cx="10972" cy="3977639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856231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公司制度为何难以扎根？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496312"/>
            <a:ext cx="493776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股份公司已出现，但发展尚幼稚。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作者援引柯比：政权对工商财产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的侵扰削弱信任，稳定的法律与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95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非人际关系治理基础不足。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28232" y="4224528"/>
            <a:ext cx="4937760" cy="1453896"/>
          </a:xfrm>
          <a:prstGeom prst="rect">
            <a:avLst/>
          </a:prstGeom>
          <a:solidFill>
            <a:srgbClr val="F0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398264"/>
            <a:ext cx="453542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6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作者延伸到当代的提醒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901184"/>
            <a:ext cx="45354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990100"/>
                </a:solidFill>
                <a:latin typeface="Noto Serif CJK SC"/>
              </a:defRPr>
            </a:pPr>
            <a:r>
              <a:rPr>
                <a:ea typeface="Noto Serif CJK SC"/>
              </a:rPr>
              <a:t>“重融资、轻治理”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413248"/>
            <a:ext cx="4535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筹到资金之后，仍须重视公司如何治理。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结语：票号成败给出的制度问题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概括依据：何平，第39—49页；末段为本次汇报的简短评议。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74519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文章的回答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51176"/>
            <a:ext cx="10634472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李宏龄从日常经营与银行竞争中提出改革；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何平以这些文书说明：票号已有业务创新，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3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但未能及时完成组织机制与治理模式的改造。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23944"/>
            <a:ext cx="10643616" cy="12801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本次汇报的理解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634472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有限责任说明公司化为何有吸引力；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21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官款、官方保护和战争冲击，也使实际转型不能只归结为单一制度。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一  李宏龄与票号文书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5112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二  票号成败与银行改制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5112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1583" y="18288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三  有限责任与公司制度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1583" y="539496"/>
            <a:ext cx="3584448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32104"/>
            <a:ext cx="110642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3050" b="1">
                <a:solidFill>
                  <a:srgbClr val="282627"/>
                </a:solidFill>
                <a:latin typeface="Noto Serif CJK SC"/>
              </a:defRPr>
            </a:pPr>
            <a:r>
              <a:rPr>
                <a:ea typeface="Noto Serif CJK SC"/>
              </a:rPr>
              <a:t>参考文献与引文说明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17904"/>
            <a:ext cx="621792" cy="32004"/>
          </a:xfrm>
          <a:prstGeom prst="rect">
            <a:avLst/>
          </a:prstGeom>
          <a:solidFill>
            <a:srgbClr val="990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56231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7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主要文献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49424"/>
            <a:ext cx="107899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7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何平：《李宏龄的票号成败论与近代中国公司制度的缺失》，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7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《中国钱币》2022年第6期，第39—49页。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62656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7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理论来源（据主文注[9]及辅助材料）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355848"/>
            <a:ext cx="107899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7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戴维·莫斯著，何平译：《别无他法：作为终极风险管理者的政府》，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7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人民出版社，2014年，第3章“有限责任”，第62—101页。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69079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700" b="1">
                <a:solidFill>
                  <a:srgbClr val="990100"/>
                </a:solidFill>
                <a:latin typeface="Noto Sans CJK SC"/>
              </a:defRPr>
            </a:pPr>
            <a:r>
              <a:rPr>
                <a:ea typeface="Noto Sans CJK SC"/>
              </a:rPr>
              <a:t>辅助展示与模板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462271"/>
            <a:ext cx="107899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7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寇令仪：《中国货币思想史课堂展示——〈别无他法〉第3章》。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700" b="0">
                <a:solidFill>
                  <a:srgbClr val="282627"/>
                </a:solidFill>
                <a:latin typeface="Noto Sans CJK SC"/>
              </a:defRPr>
            </a:pPr>
            <a:r>
              <a:rPr>
                <a:ea typeface="Noto Sans CJK SC"/>
              </a:rPr>
              <a:t>版式沿用朱振坤最新上传版本；有限责任解释参考上述辅助展示。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687568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12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古文及梁启超演说均转引主文，页码为印刷页码。莫斯、王路曼等原书未单独核阅。</a:t>
            </a:r>
          </a:p>
          <a:p>
            <a:pPr algn="l">
              <a:lnSpc>
                <a:spcPct val="114000"/>
              </a:lnSpc>
              <a:spcAft>
                <a:spcPts val="600"/>
              </a:spcAft>
              <a:defRPr sz="125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引文以短句节录；解释与评议在讲稿中注明。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55080"/>
            <a:ext cx="11064240" cy="10972"/>
          </a:xfrm>
          <a:prstGeom prst="rect">
            <a:avLst/>
          </a:prstGeom>
          <a:solidFill>
            <a:srgbClr val="D8D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92240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  <a:defRPr sz="94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附录：不计入15分钟正文。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28248" y="6464808"/>
            <a:ext cx="466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4000"/>
              </a:lnSpc>
              <a:spcAft>
                <a:spcPts val="600"/>
              </a:spcAft>
              <a:defRPr sz="1100" b="0">
                <a:solidFill>
                  <a:srgbClr val="6F6A68"/>
                </a:solidFill>
                <a:latin typeface="Noto Sans CJK SC"/>
              </a:defRPr>
            </a:pPr>
            <a:r>
              <a:rPr>
                <a:ea typeface="Noto Sans CJK SC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544</Words>
  <Application>Microsoft Macintosh PowerPoint</Application>
  <PresentationFormat>宽屏</PresentationFormat>
  <Paragraphs>267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KaiTi</vt:lpstr>
      <vt:lpstr>Microsoft YaHei</vt:lpstr>
      <vt:lpstr>Noto Sans CJK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李宏龄的票号成败论与近代中国公司制度的缺失（修订版）</dc:title>
  <dc:subject>货币思想史文献汇报，按原文三部分组织，约15分钟</dc:subject>
  <dc:creator>朱振坤</dc:creator>
  <cp:keywords>李宏龄,票号,有限责任,公司制度,货币思想史</cp:keywords>
  <dc:description>generated using python-pptx</dc:description>
  <cp:lastModifiedBy>朱振坤 Zhenkun Zhu</cp:lastModifiedBy>
  <cp:revision>3</cp:revision>
  <dcterms:created xsi:type="dcterms:W3CDTF">2013-01-27T09:14:16Z</dcterms:created>
  <dcterms:modified xsi:type="dcterms:W3CDTF">2026-10-27T02:29:51Z</dcterms:modified>
  <cp:category/>
</cp:coreProperties>
</file>