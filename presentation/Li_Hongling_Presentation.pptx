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建议用时：30秒</a:t>
            </a:r>
          </a:p>
          <a:p/>
          <a:p>
            <a:r>
              <a:t>大家好，今天我汇报何平的《李宏龄的票号成败论与近代中国公司制度的缺失》。我想围绕一个问题展开：山西票号曾经依靠信用和经营网络取得成功，为什么到了清末，却没能普遍转成新式银行？我会先看李宏龄怎样理解危机、提出改革，再看何平如何用公司制度解释这场转型的受阻。</a:t>
            </a:r>
          </a:p>
          <a:p/>
          <a:p>
            <a:r>
              <a:t>讲述提醒：点明问题后切换第2页。</a:t>
            </a:r>
          </a:p>
          <a:p/>
          <a:p>
            <a:r>
              <a:t>出处：何平（2022），39—49页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建议用时：55秒</a:t>
            </a:r>
          </a:p>
          <a:p/>
          <a:p>
            <a:r>
              <a:t>我们很容易把票号衰落理解成老商人不愿接受新东西。但读完这篇文章，会发现事情没有这么简单。票号并不缺经营经验，也不是完全没有创新。更重要的是，票号内部已经有人清楚认识到银行的优势，甚至提出了相当具体的改制计划。那么，有了问题意识和改革方案，为什么转型仍然困难？本文给出的解释，是从业务竞争继续追问到组织与治理。如果只用“保守”两个字概括，我们就无法解释为什么同一家票号内部，会出现对改革如此不同的判断。接下来，我会把三个层次分开：李宏龄看到的经营危机，他提出的银行方案，以及何平对方案失败的制度解释。这样也能避免把今天的理论，全部当成李宏龄当年已经系统提出的思想。</a:t>
            </a:r>
          </a:p>
          <a:p/>
          <a:p>
            <a:r>
              <a:t>讲述提醒：强调三个层次，切换人物与史料时间线。</a:t>
            </a:r>
          </a:p>
          <a:p/>
          <a:p>
            <a:r>
              <a:t>出处：依据：何平（2022），39、41、47—49页。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建议用时：65秒</a:t>
            </a:r>
          </a:p>
          <a:p/>
          <a:p>
            <a:r>
              <a:t>先认识一下李宏龄。他在一八六二年进入蔚丰厚票号，后来先后主持北京、上海、汉口的分号业务，是一位长期处在经营一线的经理。他的价值，在于让我们听到票号内部对自身处境的判断。这里尤其要看清时间线：一九〇八到一九〇九年，李宏龄与各地票号围绕合股设立银行往来通信；一九一二年，梁启超向山西票商发表演说；到一九一七年，李宏龄才将相关材料整理出版。因此，出版时间不能直接当成思想形成时间。不过，工作书信也不是完全中立的记录：它们本身承担着说服总号、推动改革的任务，后来又经过选择和编辑。阅读时，既要重视亲历者的证词，也要留意他的立场。这里的史料既记录了经营事实，也记录了经理试图改变决策的努力，两种性质需要同时理解。</a:t>
            </a:r>
          </a:p>
          <a:p/>
          <a:p>
            <a:r>
              <a:t>讲述提醒：指示1908—1909早于1912、1917，再切换兴盛机制。</a:t>
            </a:r>
          </a:p>
          <a:p/>
          <a:p>
            <a:r>
              <a:t>出处：依据：何平（2022），39—40、45—46页；所列为史料形成与出版时间。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建议用时：65秒</a:t>
            </a:r>
          </a:p>
          <a:p/>
          <a:p>
            <a:r>
              <a:t>理解衰落以前，先要知道票号为什么能兴盛。可以把它的优势理解为三个相互支撑的部分。第一是信用，让客户相信异地也能兑现；第二是遍布各地的分号网络，把不同地方的收付款连接起来；第三是官款和商业汇兑业务，为网络带来稳定需求。文章引用李宏龄的描述，说“一纸之信符遥传，百万之巨款立集”，强调的正是这种跨地域组织资金的能力。特别是在道路不畅、实物运银困难的时候，汇兑可以节省运输成本，也能服务军饷、协款和赈济。这说明信用不是一句抽象的道德赞美，它要靠人员、分号和实际兑现能力来支撑，也要有持续的业务需求。但这里也埋着一个问题：票号的成功与特定的财政安排、货币环境紧密联系。当这些条件改变，过去的优势就未必还能自动转化为新的优势。</a:t>
            </a:r>
          </a:p>
          <a:p/>
          <a:p>
            <a:r>
              <a:t>讲述提醒：由“成功依赖哪些条件”过渡到条件如何变化。</a:t>
            </a:r>
          </a:p>
          <a:p/>
          <a:p>
            <a:r>
              <a:t>出处：依据：何平（2022），41、45—47页；本页为机制归纳。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建议用时：80秒</a:t>
            </a:r>
          </a:p>
          <a:p/>
          <a:p>
            <a:r>
              <a:t>李宏龄观察到的压力，主要有三个方向。首先是官款转移。户部银行以及各省银行成立以后，原来由票号承办的一部分官款汇兑，转到了银行手里。其次是存贷款竞争。银行借助较雄厚的资金，能够用更高的存款利息吸收资金，也能影响放款价格，票号越来越被动。李宏龄在信中估计，同行二十多家的生意已经减少四五成，存款被提走六七成。这里要特别说明，这些是当事人用于说明危机的估计，不能当成经过统计核验的全行业数字。此外，外国银行也在扩展业务，凭借资本和经营经验争夺客户。因此，票号受到的是国内外银行共同带来的竞争压力。第三是制度上的压力。一九〇八年的银行则例要求具有银行性质的机构注册，逾期未注册，就不能继续办理官款的汇兑和存放。所以，票号面对的并不只是多了几个竞争者，而是业务来源、资金价格和经营规则同时发生变化。</a:t>
            </a:r>
          </a:p>
          <a:p/>
          <a:p>
            <a:r>
              <a:t>讲述提醒：数字处短停顿，明确是信中估计；切换货币制度变化。</a:t>
            </a:r>
          </a:p>
          <a:p/>
          <a:p>
            <a:r>
              <a:t>出处：依据：何平（2022），41—42页。40%—50%、60%—70%为1908年信中估计。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建议用时：75秒</a:t>
            </a:r>
          </a:p>
          <a:p/>
          <a:p>
            <a:r>
              <a:t>从货币思想史的角度看，我觉得最值得注意的是：票号的利益，开始与更大范围的金融制度变革发生张力。比如各地票号担心，银行钞票流通以后，客户带着钞票就能付款，对一部分汇兑服务的需求会减少。这是当时经营者对货币工具变化的观察和预期，并不是说钞票已经完全替代了汇兑。梁启超的分析更进一步。他指出，票号曾经从各地货币成色、计量标准的差异，以及不完善的金库安排中获得收益；但从国民经济出发，币制统一和金库改革又有必要。因此，一种制度对某个行业有利，不等于它对整个金融秩序最有利。银行券的扩展和币制统一并非同一件事，但它们都可能改变客户为什么需要票号、愿意为哪些服务付费。票号要继续发展，就需要在新的货币与财政体系中重新寻找位置，而不能只要求保住原来的获利条件。</a:t>
            </a:r>
          </a:p>
          <a:p/>
          <a:p>
            <a:r>
              <a:t>讲述提醒：突出“行业利益与公共秩序”的张力，再引出改革方案。</a:t>
            </a:r>
          </a:p>
          <a:p/>
          <a:p>
            <a:r>
              <a:t>出处：依据：何平（2022），43—46页；梁启超演说为1912年。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建议用时：80秒</a:t>
            </a:r>
          </a:p>
          <a:p/>
          <a:p>
            <a:r>
              <a:t>面对这些变化，李宏龄提出的办法，是各家票号联合出资，设立新式银行。方案已经具体到筹资方式：各号先出三万到五万两，目标股本五百万两，每股一百两，再吸收其他资本。要注意，这些是拟议的安排，不代表五百万两已经募集成功。组织上，他希望各号提供人员，银行另立账簿和经营场所，盈利以后按股分配。尤其关键的是，银行可以采用有限公司形式，即使经营亏损，出资者通常也只损失已经投入的资本，不必继续承担没有上限的赔累。至于原来的票号怎么办，他没有要求立即全部撤掉，而是主张银行和票号暂时并存。用他的意思来说，即使以后票号不能继续经营，银行也能保留一线生机。同时，这个方案仍带有保全晋商生计和利权的目的，并不是一份完全脱离地方关系的现代公司设计。因此，这不是简单扩大几家分号，而是希望把既有信用、人员和资本，重新组织到银行制度之中。</a:t>
            </a:r>
          </a:p>
          <a:p/>
          <a:p>
            <a:r>
              <a:t>讲述提醒：强调“方案”与“实际实现”不同，切换改革受阻。</a:t>
            </a:r>
          </a:p>
          <a:p/>
          <a:p>
            <a:r>
              <a:t>出处：依据：何平（2022），42—43页；数字均为1908年倡议方案，非实际募资结果。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建议用时：80秒</a:t>
            </a:r>
          </a:p>
          <a:p/>
          <a:p>
            <a:r>
              <a:t>既然方案这么具体，为什么仍然没有实现？文章首先指出，总号和分号所处的位置不同。分号经理直接面对银行竞争，危机感比较强；总号掌握重要决策，却可能更依赖原有经验。李宏龄服务的蔚丰厚总号负责人就强烈反对联合改组。但也不能因此把票号概括成毫无制度的家族经营。文中承认，它有避亲举乡的用人原则、正式号规以及奖金和股俸激励。问题是，这些原来有效的安排，未必能支持跨票号的资本联合和统一决策。地域关系一方面提供信任，另一方面也可能限制对外吸收资本和重新分配控制权。改革派内部也没有完全一致：成都来信强调引入官股以寻求保护，又限制外部地域资本，还提出过“无限山西银行”的方案，与李宏龄强调有限责任并不相同。所以，受阻的不只是观念更新，还包括由谁出钱、谁能控制、责任如何分担，以及新组织依靠什么规则运转。</a:t>
            </a:r>
          </a:p>
          <a:p/>
          <a:p>
            <a:r>
              <a:t>讲述提醒：点出“改革派也有分歧”，随后解释责任制度。</a:t>
            </a:r>
          </a:p>
          <a:p/>
          <a:p>
            <a:r>
              <a:t>出处：依据：何平（2022），40、45、48—49页。成都来信提出“无限山西银行”。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建议用时：85秒</a:t>
            </a:r>
          </a:p>
          <a:p/>
          <a:p>
            <a:r>
              <a:t>接下来解释何平特别强调的有限责任。我们用一个教学算例：一家公司欠债一百，破产时只剩四十的资产，于是还有六十无法偿还。在股东已缴足出资、没有额外担保等情况下，这六十并不会自动向股东的个人财产继续追索。当然，个人另外提供担保，或者存在违法等情况，需要另作判断。对股东来说，最坏损失的边界更容易事先确定，因此更愿意把一部分资金交给自己不能全面监督的企业。这里减少的是股东因公司债务而承担追加损失的风险，公司的经营损失本身并没有因此减少。对债权人来说，风险并没有消失：能够谈判的债权人可能提高利率、要求抵押，或者减少贷款。因此，有限责任有助于动员股权资本，却不意味着社会总投资必然增加，也不意味着公司不会破产。何平借助莫斯的理论，解释的是为什么这种责任边界具有吸引力。李宏龄已经抓住了“赔累有界”这个要点，但文中完整的理论机制，属于作者对历史的进一步解释。</a:t>
            </a:r>
          </a:p>
          <a:p/>
          <a:p>
            <a:r>
              <a:t>讲述提醒：顺着债100、资产40、缺口60解释；切换理论来源。</a:t>
            </a:r>
          </a:p>
          <a:p/>
          <a:p>
            <a:r>
              <a:t>出处：依据：何平（2022），47—48页；数字为课堂示意，非票号史料。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建议用时：65秒</a:t>
            </a:r>
          </a:p>
          <a:p/>
          <a:p>
            <a:r>
              <a:t>这也解释了老师为什么建议参考同学关于《别无他法》的展示。两份材料的联系非常直接：何平在文章注释中，明确引用了莫斯这本书的第三章，也就是“有限责任”。所以这里借用它作为理解主文献的工具，不另行展开美国各州的立法史。这个联系可以概括为四步：法律明确损失边界，改变投资者的预期，进而影响资本进入企业的意愿，并把一部分风险转移给其他主体。为什么还需要法律？因为公司面对很多债权人，逐一签约成本很高，而且未来的事故受害者等人不可能提前参与全部协商。统一规则因此很重要。这里的政府作用，首先是设定大家共同遵守的责任边界，而不是直接替每一家经营失败的企业偿还债务。不过，资本动员的收益与风险转移的代价，需要放在一起看。这也提醒我们，不能把有限责任只理解成对股东的一项优惠。</a:t>
            </a:r>
          </a:p>
          <a:p/>
          <a:p>
            <a:r>
              <a:t>讲述提醒：说明该页为理论连接，随即回到票号成败争论。</a:t>
            </a:r>
          </a:p>
          <a:p/>
          <a:p>
            <a:r>
              <a:t>出处：依据：主文47—49页、注[9]；寇令仪展示第17、22—25页。莫斯原书未单独核阅。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建议用时：65秒</a:t>
            </a:r>
          </a:p>
          <a:p/>
          <a:p>
            <a:r>
              <a:t>关于票号成败，文章还回应了一种解释：改革派与保守总号之间的对立，是后来为了说明现代化而塑造出来的。何平的反驳，关键就是我们前面看到的时间线。一九〇八到一九〇九年的工作书信，早于梁启超一九一二年的演说，也早于一九一七年的结集出版，因此不能仅凭出版较晚，就把这些改革主张视为事后的想象。当然，书信早就存在，并不等于编辑没有选择性，也不能直接证明所有总号都持相同态度。尤其不能把个别书信中较鲜明的改革态度，直接扩大为全部经理与全部所有者之间整齐划一的对立。除此之外，还要区分成败的评价对象。一个票号家族退出金融业，转投其他行业，可能继续保有财富；但这不等于票号作为金融组织完成了转型。两种问题都值得研究，只是不能拿一个问题的成功，直接替代另一个问题的答案。</a:t>
            </a:r>
          </a:p>
          <a:p/>
          <a:p>
            <a:r>
              <a:t>讲述提醒：将“家族财富”与“金融组织”两个评价对象分开。</a:t>
            </a:r>
          </a:p>
          <a:p/>
          <a:p>
            <a:r>
              <a:t>出处：依据：何平（2022），45—47页；何平对王路曼相关解释的回应。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建议用时：80秒</a:t>
            </a:r>
          </a:p>
          <a:p/>
          <a:p>
            <a:r>
              <a:t>我对这篇文章的理解，可以概括为一个贡献和两个需要保留的问题。它的主要贡献，是把我们从“票号有没有创新业务”，带到“创新能否在合适的组织里持续发生”。过去积累的信用和经验，需要经过新的决策、治理和责任规则，才能适应竞争环境。第一个需要保留的问题，是有限责任能解释到什么程度。文章的判断比较有力，但官款分配、国家力量、战争冲击，以及银行自身的经营能力，都可能影响转型结果。知道有限责任有优势，并不能证明改制以后就一定成功。第二，标题中的“公司制度的缺失”，也不宜理解为当时中国完全没有公司法或新式银行。更准确地说，文章关注的是：相应的法律与治理机制，为什么没有充分成为票号联合改制的实际基础。例如，主文也提到蔚丰厚改组为蔚丰商业银行。因此，联合办行未成，不等于每家票号都未曾改组。总号的具体考虑和方案的可执行性，仍需更多档案检验。</a:t>
            </a:r>
          </a:p>
          <a:p/>
          <a:p>
            <a:r>
              <a:t>讲述提醒：放慢语速讲两点限制，切换总结。</a:t>
            </a:r>
          </a:p>
          <a:p/>
          <a:p>
            <a:r>
              <a:t>出处：依据：何平（2022），41、47—49页；本页“讨论”是本次展示的评议。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建议用时：55秒</a:t>
            </a:r>
          </a:p>
          <a:p/>
          <a:p>
            <a:r>
              <a:t>最后回到开头的问题。票号拥有信用和经营经验，却没能普遍转成银行，说明传统优势不会自动带来组织转型。李宏龄的贡献，是已经看到原有获利条件正在改变，并尝试用合股、有限责任和新的银行业务寻找出路；何平则进一步强调，真正的改制涉及决策、治理和法律规则，远不止换一块招牌。对货币思想史来说，这也让我们看到，金融思想讨论的不只是货币和利率，还包括谁来组织信用、谁作决定，以及失败时由谁承担损失。我的展示就到这里。最后留下一个问题：如果有限责任有助于动员银行资本，那么在保护股东的同时，我们又应该怎样约束银行的冒险，并保护其他承担风险的人？谢谢大家。</a:t>
            </a:r>
          </a:p>
          <a:p/>
          <a:p>
            <a:r>
              <a:t>讲述提醒：末句停顿，结束；问答不计入正文时长。</a:t>
            </a:r>
          </a:p>
          <a:p/>
          <a:p>
            <a:r>
              <a:t>出处：归纳依据：何平（2022），39—49页。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附录，不计入15分钟正文。</a:t>
            </a:r>
          </a:p>
          <a:p>
            <a:r>
              <a:t>附录，不计入15分钟正文。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附录，不计入15分钟正文。</a:t>
            </a:r>
          </a:p>
          <a:p>
            <a:r>
              <a:t>附录，不计入15分钟正文；详细答法见讲稿。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中国货币思想史  /  文献展示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88720"/>
            <a:ext cx="11000232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80467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4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从票号信用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4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到公司制度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730752"/>
            <a:ext cx="8366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李宏龄的票号成败论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与近代中国公司制度的缺失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074920"/>
            <a:ext cx="81381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以何平《中国钱币》2022年第6期文章为主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5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约15分钟 · 13页正文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8008" y="1956816"/>
            <a:ext cx="73152" cy="502920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1847088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信用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40487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传统经营的基础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8008" y="3172968"/>
            <a:ext cx="73152" cy="502920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3063240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改制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362102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危机中的回应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8008" y="4389120"/>
            <a:ext cx="73152" cy="502920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4279392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责任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8371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组织转型的规则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199632"/>
            <a:ext cx="11000232" cy="22860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419088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主文献：何平，2022，39—49页。版式参考寇令仪课堂展示。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有信用、有经验，票号为何未能普遍转成银行？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本文把经营困境，追问为组织转型与制度条件的问题。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依据：何平（2022），39、41、47—49页。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828800"/>
            <a:ext cx="3538728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0299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560320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已有的能力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163824"/>
            <a:ext cx="313639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长期积累的商业信用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遍布多地的汇兑网络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熟悉地方市场的经理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1828800"/>
            <a:ext cx="3538728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0299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60320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变化的环境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163824"/>
            <a:ext cx="313639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官款业务转向银行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存贷与支付方式变化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官方规则重新设定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3" y="1828800"/>
            <a:ext cx="3538728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0299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560320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需要改变的规则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163824"/>
            <a:ext cx="313639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资本如何联合？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损失由谁承担？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改革由谁决定？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先分清：谁在说，什么时候说？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1908—1909年的工作书信，是讨论改革主张的关键证据。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依据：何平（2022），39—40、45—46页；所列为史料形成与出版时间。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810512"/>
            <a:ext cx="11091672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196596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1956816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1847—1918  /  蔚丰厚票号任职50余年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曾主持京师、上海、汉口分号经营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456432"/>
            <a:ext cx="10012680" cy="32004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3337560"/>
            <a:ext cx="256032" cy="256032"/>
          </a:xfrm>
          <a:prstGeom prst="ellipse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852928"/>
            <a:ext cx="2606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1862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673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进入蔚丰厚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长期从业经验</a:t>
            </a:r>
          </a:p>
        </p:txBody>
      </p:sp>
      <p:sp>
        <p:nvSpPr>
          <p:cNvPr id="26" name="Oval 25"/>
          <p:cNvSpPr/>
          <p:nvPr/>
        </p:nvSpPr>
        <p:spPr>
          <a:xfrm>
            <a:off x="3566160" y="3337560"/>
            <a:ext cx="256032" cy="256032"/>
          </a:xfrm>
          <a:prstGeom prst="ellipse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2852928"/>
            <a:ext cx="2606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1908—1909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7673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倡议联合办银行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43484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往来工作书信</a:t>
            </a:r>
          </a:p>
        </p:txBody>
      </p:sp>
      <p:sp>
        <p:nvSpPr>
          <p:cNvPr id="30" name="Oval 29"/>
          <p:cNvSpPr/>
          <p:nvPr/>
        </p:nvSpPr>
        <p:spPr>
          <a:xfrm>
            <a:off x="6355079" y="3337560"/>
            <a:ext cx="256032" cy="256032"/>
          </a:xfrm>
          <a:prstGeom prst="ellipse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2852928"/>
            <a:ext cx="2606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1912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37673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梁启超发表演说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443484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从国家金融看票号</a:t>
            </a:r>
          </a:p>
        </p:txBody>
      </p:sp>
      <p:sp>
        <p:nvSpPr>
          <p:cNvPr id="34" name="Oval 33"/>
          <p:cNvSpPr/>
          <p:nvPr/>
        </p:nvSpPr>
        <p:spPr>
          <a:xfrm>
            <a:off x="9143999" y="3337560"/>
            <a:ext cx="256032" cy="256032"/>
          </a:xfrm>
          <a:prstGeom prst="ellipse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3999" y="2852928"/>
            <a:ext cx="2606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1917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3999" y="37673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李宏龄刊印两书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99" y="443484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文书公开与后见叙述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票号的兴盛，建立在信用、网络与特定业务之上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既有经营方式曾经有效；困境来自其赖以获利的条件变化。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依据：何平（2022），41、45—47页；本页为机制归纳。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9385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信用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9748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兑现承诺与同业协力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502152"/>
            <a:ext cx="3154680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22191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“一纸之信符遥传，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百万之巨款立集。”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19385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网络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69748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跨地区分号组织汇兑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502152"/>
            <a:ext cx="3154680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3822191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把异地资金调度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变成可经营的业务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19385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业务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269748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官款汇兑与存放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2" y="3502152"/>
            <a:ext cx="3154680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3822191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军饷、协款、赈抚等需求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成为重要业务来源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衰退压力同时来自业务、资金与规则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李宏龄面对的，是既有盈利条件和经营资格一起变化。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依据：何平（2022），41—42页。40%—50%、60%—70%为1908年信中估计。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84708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官款业务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184708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户部等银行承接官款汇兑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847088"/>
            <a:ext cx="4343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原有财政业务来源收缩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615184"/>
            <a:ext cx="10972800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0720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存贷竞争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280720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银行吸收存款，并影响市场利率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807208"/>
            <a:ext cx="4343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票号被动跟随，资金来源承压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575304"/>
            <a:ext cx="10972800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6732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注册规则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376732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1908年《银行通行则例》第12条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767328"/>
            <a:ext cx="4343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期满未注册者不得再办官款汇兑存放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956048"/>
            <a:ext cx="11000232" cy="566928"/>
          </a:xfrm>
          <a:prstGeom prst="rect">
            <a:avLst/>
          </a:prstGeom>
          <a:solidFill>
            <a:srgbClr val="F1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056632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李宏龄信中估计：生意减少四五成，存款被提取六七成。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从货币思想史看：票号利益与金融改革发生了张力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金融制度的公共改进，可能同时压缩旧机构的收益空间。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依据：何平（2022），43—46页；梁启超演说为1912年。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1856231"/>
            <a:ext cx="5266944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1856231"/>
            <a:ext cx="5504688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084831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票号经理的观察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761488"/>
            <a:ext cx="473659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“夹带钞票即能办事，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何必又出汇费乎！”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59352"/>
            <a:ext cx="4736592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营口来信担忧：钞票通行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会替代部分汇兑需求。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084831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梁启超的国家金融视角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770632"/>
            <a:ext cx="489204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金库改革 → 旧官款财源收缩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币制统一 → 汇兑获利条件变化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160520"/>
            <a:ext cx="48463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评价尺度由一家票号的利益，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延伸到国民经济与金融秩序。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李宏龄的方案：联合出资，另立银行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目的在于为传统业务创造转型出口，而不只是保存票号的旧名称。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依据：何平（2022），42—43页；数字均为1908年倡议方案，非实际募资结果。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4708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3—5万两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58775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每家票号拟出资本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184708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500万两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58775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拟募集股本总额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184708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100两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58775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拟定每股金额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209544"/>
            <a:ext cx="11000232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5478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资本与业务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206240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共同入股、广为招股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发展押款等业务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5478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责任与收益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206240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采用有限公司形式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按股分利、积累公积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5478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过渡路径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206240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票号与银行可以并存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为票号衰退保留出路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联合办行未能实现：认识危机，也要形成共同决策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传统治理已有激励机制，但联合改制还需要新的权力、责任与信任安排。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依据：何平（2022），40、45、48—49页。成都来信提出“无限山西银行”。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1847088"/>
            <a:ext cx="3465576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0482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2578608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总号与分号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182112"/>
            <a:ext cx="3063240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分号直接面对市场压力；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总号掌握关键决策，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部分负责人反对重组。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1847088"/>
            <a:ext cx="3465576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0482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578608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联合方案的分歧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182112"/>
            <a:ext cx="3063240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地域限制与官股保护诉求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并存；成都提出无限责任，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未与李的方案完全一致。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1847088"/>
            <a:ext cx="3465576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20482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2578608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制度落地的困难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3182112"/>
            <a:ext cx="3063240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公司制仍处于幼稚阶段；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资本联合还依赖稳定规则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与可执行的治理安排。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533095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注意：票号已有“避亲举乡”、号规与股俸，不能概括为只靠亲属或毫无治理。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有限责任改变的是：公司失败后，损失追索到哪里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责任封顶有助于动员股本，同时会影响债权人的风险与融资条件。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依据：何平（2022），47—48页；数字为课堂示意，非票号史料。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1810512"/>
            <a:ext cx="11000232" cy="685800"/>
          </a:xfrm>
          <a:prstGeom prst="rect">
            <a:avLst/>
          </a:prstGeom>
          <a:solidFill>
            <a:srgbClr val="F1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195681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假设公司债务100，清偿时资产40：尚有60无法清偿。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无限责任下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29000"/>
            <a:ext cx="49377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可能继续追索股东个人财产，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直到依法清偿或无财产可供执行。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2472" y="2798064"/>
            <a:ext cx="16459" cy="2331720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788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429000"/>
            <a:ext cx="489204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股东已缴足出资且无额外担保时，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通常不自动追加个人清偿责任。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928616"/>
            <a:ext cx="106070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股东更容易界定最坏损失；债权人可能提高利率、要求抵押或个人担保。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与《别无他法》的连接：法律如何通过风险分配动员资本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莫斯解释一般机制；票号案例追问这种机制为什么未能顺利落地。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依据：主文47—49页、注[9]；寇令仪展示第17、22—25页。莫斯原书未单独核阅。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810512"/>
            <a:ext cx="1088136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这是主文的直接理论来源：何平在注[9]引用莫斯第3章“有限责任”。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15768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9184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损失边界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26060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限制股东的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灾难性损失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3346704"/>
            <a:ext cx="411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4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2715768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329184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投资激励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4069080"/>
            <a:ext cx="26060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提高参与企业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投资的意愿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8736" y="3346704"/>
            <a:ext cx="411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4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715768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329184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法律规则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069080"/>
            <a:ext cx="26060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统一预期，降低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逐一协商的困难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1664" y="3346704"/>
            <a:ext cx="411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4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3" y="2715768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3" y="329184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风险转移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3" y="4069080"/>
            <a:ext cx="26060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债权人与其他主体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仍可能承担损失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如何判断“成败”：先分清时间，也分清评价对象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工作书信支持“当时已有改革思考”，仍需审查编选史料的立场。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依据：何平（2022），45—47页；何平对王路曼相关解释的回应。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1856231"/>
            <a:ext cx="5340096" cy="3493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856231"/>
            <a:ext cx="5431536" cy="3493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084831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时间：何时提出改革？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816352"/>
            <a:ext cx="4681728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1908—1909年形成书信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早于1912年演说与1917年刊印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096512"/>
            <a:ext cx="46817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不能把书的出版年份，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直接当作其中思想的产生年份。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084831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对象：谁的成功或失败？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816352"/>
            <a:ext cx="4681728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票商家庭转投其他事业获利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与票号转为近代金融组织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096512"/>
            <a:ext cx="46817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两者评价对象不同；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本文关注后者的转型问题。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文献的贡献与边界：制度视角有力，因果解释仍需限定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“公司制的缺失”宜理解为治理与制度未充分落地，而非完全没有公司或法律。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依据：何平（2022），41、47—49页；本页“讨论”是本次展示的评议。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947672"/>
            <a:ext cx="1097280" cy="585216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048255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贡献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1965960"/>
            <a:ext cx="92354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把衰退分析从业务竞争推进到风险分配与治理结构。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843784"/>
            <a:ext cx="9235440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090672"/>
            <a:ext cx="1097280" cy="585216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91256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08960"/>
            <a:ext cx="92354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有限责任不能单独解决官款流失、权力差异和流动性危机。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3986783"/>
            <a:ext cx="9235440" cy="16459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233672"/>
            <a:ext cx="1097280" cy="585216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34256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讨论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251959"/>
            <a:ext cx="92354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联合办行未成，不等于每家票号都未曾改组；主文亦举蔚丰厚之例。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回到核心问题：转型需要把信用变成可持续的制度安排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讨论：保护股东、动员资本的同时，如何约束银行把风险转给他人？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归纳依据：何平（2022），39—49页。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1847088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票号信用能够支持业务扩张，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新金融秩序还要求组织规则随之改变。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594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9592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经营层面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45152"/>
            <a:ext cx="30632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官款、存贷、支付方式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改变旧有获利条件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474720"/>
            <a:ext cx="594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99592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组织层面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645152"/>
            <a:ext cx="30632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联合资本、调整决策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推动票号向银行转型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474720"/>
            <a:ext cx="594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99592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制度层面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4645152"/>
            <a:ext cx="30632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明确责任边界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形成稳定法律与治理预期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参考文献与引用说明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主文献为主体；同学材料仅用于一页理论连接与版式借鉴。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附录，不计入15分钟正文。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1783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主文献（全文阅读）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85416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何平：《李宏龄的票号成败论与近代中国公司制度的缺失》，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7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《中国钱币》2022年第6期，第39—49页。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93522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辅助材料（上传PPT）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33756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寇令仪：《中国货币思想史课堂展示——〈别无他法〉第3章》。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7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内容主要参考第17、22—25页；借鉴米白、深红配色及导航版式。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08736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理论来源（经上述材料转引）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48970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戴维·莫斯著，何平译：《别无他法：作为终极风险管理者的政府》，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7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人民出版社，2014年，第3章“有限责任”，第62—101页。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3675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页码均指主文献印刷页码。李宏龄书信、梁启超演说均转引主文，未另核原书。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问题与史料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1488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2624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改制与阻力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2624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84632"/>
            <a:ext cx="2066543" cy="10972"/>
          </a:xfrm>
          <a:prstGeom prst="rect">
            <a:avLst/>
          </a:prstGeom>
          <a:solidFill>
            <a:srgbClr val="DC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54896" y="1828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评价与启示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484632"/>
            <a:ext cx="2066543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75895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05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备用问答：三个容易追问的地方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472184"/>
            <a:ext cx="566928" cy="41148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5833872"/>
            <a:ext cx="11109960" cy="16459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5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有限责任提供一种转型条件；其实际效果取决于同时存在的治理与法律环境。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83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附录，不计入15分钟正文；详细答法见讲稿。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有限责任是否一定能救票号？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368296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不能据此断言。它改善融资激励，未必消除政治、业务与流动性冲击。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0540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票号的经理都是财东亲属吗？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575303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不能这样说。主文提到“避亲举乡”、号规和股俸；关键是改革决策机制。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2611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为何要参考《别无他法》？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782312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它正是何平解释有限责任所用的理论来源，可帮助说明风险如何重新分配。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从票号信用到公司制度——李宏龄的票号成败论与近代中国公司制度的缺失</dc:title>
  <dc:subject>中国货币思想史课堂展示，约15分钟</dc:subject>
  <dc:creator/>
  <cp:keywords>李宏龄,票号,有限责任,公司制度,货币思想史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